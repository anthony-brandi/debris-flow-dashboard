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>
        <p:scale>
          <a:sx n="38" d="100"/>
          <a:sy n="38" d="100"/>
        </p:scale>
        <p:origin x="144" y="-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27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4937760"/>
          </a:xfrm>
          <a:prstGeom prst="rect">
            <a:avLst/>
          </a:prstGeom>
          <a:solidFill>
            <a:srgbClr val="144734"/>
          </a:solidFill>
          <a:ln w="12700">
            <a:solidFill>
              <a:srgbClr val="1447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3291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Post-Fire Watershed Risk Portal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3291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Satellite-Driven Debris Flow Triage for Emergency Response  |  Integrating Google Earth Engine with USGS Empirical Volume Modeling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3291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82B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Brandi   |   California Polytechnic State University, San Luis Obispo   |   CAFES Symposium, May 13, 2026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4290000" y="1417320"/>
            <a:ext cx="8686800" cy="2194560"/>
          </a:xfrm>
          <a:prstGeom prst="rect">
            <a:avLst/>
          </a:prstGeom>
          <a:solidFill>
            <a:srgbClr val="1A5C3A"/>
          </a:solidFill>
          <a:ln w="12700">
            <a:solidFill>
              <a:srgbClr val="82B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290000" y="1417320"/>
            <a:ext cx="8686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D5BE"/>
                </a:solidFill>
              </a:rPr>
              <a:t>Cal Poly Logo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8D5BE"/>
                </a:solidFill>
              </a:rPr>
              <a:t>+ NRES Department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782240" y="274320"/>
            <a:ext cx="2743200" cy="1051560"/>
          </a:xfrm>
          <a:prstGeom prst="rect">
            <a:avLst/>
          </a:prstGeom>
          <a:solidFill>
            <a:srgbClr val="1A5C3A"/>
          </a:solidFill>
          <a:ln w="12700">
            <a:solidFill>
              <a:srgbClr val="82B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782240" y="2743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5BE"/>
                </a:solidFill>
              </a:rPr>
              <a:t>QR: Live App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5166360"/>
            <a:ext cx="9326880" cy="7498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5166360"/>
            <a:ext cx="9326880" cy="502920"/>
          </a:xfrm>
          <a:prstGeom prst="rect">
            <a:avLst/>
          </a:prstGeom>
          <a:solidFill>
            <a:srgbClr val="144734"/>
          </a:solidFill>
          <a:ln w="12700">
            <a:solidFill>
              <a:srgbClr val="1447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" y="5230368"/>
            <a:ext cx="8997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5824728"/>
            <a:ext cx="886968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Post-fire debris flows are the leading secondary cause of wildfire fatalities in the western US. Current assessment methods require days of manual BAER field work — time that does not exist when atmospheric rivers follow within weeks of containment.
</a:t>
            </a: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2018 Thomas Fire / Montecito debris flow: 23 deaths, 5 weeks post-containment.
</a:t>
            </a: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integrates Google Earth Engine satellite burn severity analysis with the USGS Gartner (2014) empirical volume model to rank-order watershed vulnerability within one hour of fire perimeter availability.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02920" y="12938760"/>
            <a:ext cx="9326880" cy="868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12938760"/>
            <a:ext cx="9326880" cy="502920"/>
          </a:xfrm>
          <a:prstGeom prst="rect">
            <a:avLst/>
          </a:prstGeom>
          <a:solidFill>
            <a:srgbClr val="144734"/>
          </a:solidFill>
          <a:ln w="12700">
            <a:solidFill>
              <a:srgbClr val="1447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" y="13002768"/>
            <a:ext cx="8997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13597128"/>
            <a:ext cx="8869680" cy="1005840"/>
          </a:xfrm>
          <a:prstGeom prst="rect">
            <a:avLst/>
          </a:prstGeom>
          <a:solidFill>
            <a:srgbClr val="D6E8DF"/>
          </a:solidFill>
          <a:ln w="12700">
            <a:solidFill>
              <a:srgbClr val="1A63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1366113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47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ln(V) = 4.22 + 0.39*sqrt(i15) + 0.36*ln(Bmh) + 0.13*sqrt(R)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146578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</a:rPr>
              <a:t>Gartner et al. (2014)  |  Engineering Geology, 176, 45-56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996160"/>
          <a:ext cx="8595360" cy="19202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7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15-min rainfall intensity (mm/hr)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burned at moderate-high severity (km2)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Watershed relief: max minus min elevation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731520" y="170535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satellite inputs. One risk ranking.</a:t>
            </a:r>
            <a:endParaRPr lang="en-US" dirty="0"/>
          </a:p>
          <a:p>
            <a:pPr marL="0" indent="0" algn="ctr">
              <a:buNone/>
            </a:pPr>
            <a:r>
              <a:rPr lang="en-US" b="1" i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within one hour of containment.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31520" y="18059400"/>
            <a:ext cx="886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pipeline: USGS SRTM 30m DEM + ESA Sentinel-2 SR 10m burn severity + USGS WBD HUC-12 watersheds, processed live in Google Earth Engine Python API.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02920" y="21899880"/>
            <a:ext cx="9326880" cy="10698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02920" y="21899880"/>
            <a:ext cx="9326880" cy="502920"/>
          </a:xfrm>
          <a:prstGeom prst="rect">
            <a:avLst/>
          </a:prstGeom>
          <a:solidFill>
            <a:srgbClr val="144734"/>
          </a:solidFill>
          <a:ln w="12700">
            <a:solidFill>
              <a:srgbClr val="1447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67512" y="21963888"/>
            <a:ext cx="8997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Output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685800" y="22494240"/>
            <a:ext cx="8961120" cy="9189720"/>
          </a:xfrm>
          <a:prstGeom prst="rect">
            <a:avLst/>
          </a:prstGeom>
          <a:solidFill>
            <a:srgbClr val="EEF4F0"/>
          </a:solidFill>
          <a:ln w="15240">
            <a:solidFill>
              <a:srgbClr val="1A634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77240" y="2674162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REPLACE: Thomas Fire choropleth map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77240" y="2722626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at 91 mm/hr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85800" y="31720536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1 -- HUC-12 basin predicted sediment yield, Thomas Fire (2017), recorded storm 91 mm/hr. Red = extreme risk.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0104120" y="5166360"/>
            <a:ext cx="23682960" cy="502920"/>
          </a:xfrm>
          <a:prstGeom prst="rect">
            <a:avLst/>
          </a:prstGeom>
          <a:solidFill>
            <a:srgbClr val="144734"/>
          </a:solidFill>
          <a:ln w="12700">
            <a:solidFill>
              <a:srgbClr val="1447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0268712" y="5230368"/>
            <a:ext cx="2335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Validation Across Three Independent California Fires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10287000" y="5733288"/>
            <a:ext cx="2331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rank basins correctly? Yes — Spearman rho &gt; 0.89 across all three fires.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0104120" y="6263640"/>
            <a:ext cx="23682960" cy="8275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0104120" y="6263640"/>
            <a:ext cx="23682960" cy="475488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0287000" y="6336792"/>
            <a:ext cx="2331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Prix Fire (2003)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0104120" y="6739128"/>
            <a:ext cx="23682960" cy="50292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0241280" y="6821424"/>
            <a:ext cx="2340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rho = 1.000   |   n = 7 basins   |   Mean ratio = 1.09x</a:t>
            </a:r>
            <a:endParaRPr lang="en-US" sz="1300" dirty="0"/>
          </a:p>
        </p:txBody>
      </p:sp>
      <p:pic>
        <p:nvPicPr>
          <p:cNvPr id="38" name="Image 0" descr="/Users/anthonybrandi/Desktop/All Da Folders/Debris_Flow_App/poster_figures/grandprix_rank_cha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41280" y="7296912"/>
            <a:ext cx="11681460" cy="6446520"/>
          </a:xfrm>
          <a:prstGeom prst="rect">
            <a:avLst/>
          </a:prstGeom>
        </p:spPr>
      </p:pic>
      <p:pic>
        <p:nvPicPr>
          <p:cNvPr id="39" name="Image 1" descr="/Users/anthonybrandi/Desktop/All Da Folders/Debris_Flow_App/poster_figures/grandprix_ratio_char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68460" y="7296912"/>
            <a:ext cx="11681460" cy="644652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10241280" y="13853160"/>
            <a:ext cx="2340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2a -- Rank chart: gray = USGS observed, colored = Gartner predicted. Fig. 2b -- Ratio dots: dashed line = perfect prediction. Best case: Perfect rank ordering. All 7 basins in correct risk sequence. Mean ratio 1.09x -- essentially unbiased.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10104120" y="14676120"/>
            <a:ext cx="23682960" cy="8275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7"/>
          <p:cNvSpPr/>
          <p:nvPr/>
        </p:nvSpPr>
        <p:spPr>
          <a:xfrm>
            <a:off x="10104120" y="14676120"/>
            <a:ext cx="2368296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10287000" y="14749272"/>
            <a:ext cx="2331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Fire (2009)</a:t>
            </a:r>
            <a:endParaRPr lang="en-US" sz="1600" dirty="0"/>
          </a:p>
        </p:txBody>
      </p:sp>
      <p:sp>
        <p:nvSpPr>
          <p:cNvPr id="44" name="Shape 39"/>
          <p:cNvSpPr/>
          <p:nvPr/>
        </p:nvSpPr>
        <p:spPr>
          <a:xfrm>
            <a:off x="10104120" y="15151608"/>
            <a:ext cx="23682960" cy="50292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10241280" y="15233904"/>
            <a:ext cx="2340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rho = 0.895   |   n = 20 basins   |   Mean ratio = 0.96x</a:t>
            </a:r>
            <a:endParaRPr lang="en-US" sz="1300" dirty="0"/>
          </a:p>
        </p:txBody>
      </p:sp>
      <p:pic>
        <p:nvPicPr>
          <p:cNvPr id="46" name="Image 2" descr="/Users/anthonybrandi/Desktop/All Da Folders/Debris_Flow_App/poster_figures/station_rank_char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241280" y="15709392"/>
            <a:ext cx="11681460" cy="6446520"/>
          </a:xfrm>
          <a:prstGeom prst="rect">
            <a:avLst/>
          </a:prstGeom>
        </p:spPr>
      </p:pic>
      <p:pic>
        <p:nvPicPr>
          <p:cNvPr id="47" name="Image 3" descr="/Users/anthonybrandi/Desktop/All Da Folders/Debris_Flow_App/poster_figures/station_ratio_chart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2014180" y="15640441"/>
            <a:ext cx="11681460" cy="6446520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10241280" y="22265640"/>
            <a:ext cx="2340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3a -- Rank chart: gray = USGS observed, colored = Gartner predicted. Fig. 3b -- Ratio dots: dashed line = perfect prediction. Strong case: Largest sample (20 basins). Rank correlation p &lt; 0.001. Mean ratio 0.96x -- unbiased once repeat events averaged per basin.</a:t>
            </a:r>
            <a:endParaRPr lang="en-US" sz="1100" dirty="0"/>
          </a:p>
        </p:txBody>
      </p:sp>
      <p:sp>
        <p:nvSpPr>
          <p:cNvPr id="49" name="Shape 42"/>
          <p:cNvSpPr/>
          <p:nvPr/>
        </p:nvSpPr>
        <p:spPr>
          <a:xfrm>
            <a:off x="10104120" y="23088600"/>
            <a:ext cx="23682960" cy="8275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3"/>
          <p:cNvSpPr/>
          <p:nvPr/>
        </p:nvSpPr>
        <p:spPr>
          <a:xfrm>
            <a:off x="10104120" y="23088600"/>
            <a:ext cx="23682960" cy="47548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4"/>
          <p:cNvSpPr/>
          <p:nvPr/>
        </p:nvSpPr>
        <p:spPr>
          <a:xfrm>
            <a:off x="10287000" y="23161752"/>
            <a:ext cx="2331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Fire (2018)</a:t>
            </a:r>
            <a:endParaRPr lang="en-US" sz="1600" dirty="0"/>
          </a:p>
        </p:txBody>
      </p:sp>
      <p:sp>
        <p:nvSpPr>
          <p:cNvPr id="52" name="Shape 45"/>
          <p:cNvSpPr/>
          <p:nvPr/>
        </p:nvSpPr>
        <p:spPr>
          <a:xfrm>
            <a:off x="10104120" y="23564088"/>
            <a:ext cx="23682960" cy="50292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6"/>
          <p:cNvSpPr/>
          <p:nvPr/>
        </p:nvSpPr>
        <p:spPr>
          <a:xfrm>
            <a:off x="10241280" y="23646384"/>
            <a:ext cx="2340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rho = 0.900   |   n = 5 basins   |   Mean ratio = 1.71x at 24 mm/hr</a:t>
            </a:r>
            <a:endParaRPr lang="en-US" sz="1300" dirty="0"/>
          </a:p>
        </p:txBody>
      </p:sp>
      <p:pic>
        <p:nvPicPr>
          <p:cNvPr id="54" name="Image 4" descr="/Users/anthonybrandi/Desktop/All Da Folders/Debris_Flow_App/poster_figures/thomas_rank_chart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241280" y="24121872"/>
            <a:ext cx="11681460" cy="6446520"/>
          </a:xfrm>
          <a:prstGeom prst="rect">
            <a:avLst/>
          </a:prstGeom>
        </p:spPr>
      </p:pic>
      <p:pic>
        <p:nvPicPr>
          <p:cNvPr id="55" name="Image 5" descr="/Users/anthonybrandi/Desktop/All Da Folders/Debris_Flow_App/poster_figures/thomas_ratio_chart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1968460" y="24121872"/>
            <a:ext cx="11681460" cy="6446520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10241280" y="30678120"/>
            <a:ext cx="2340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4a -- Rank chart: gray = USGS observed, colored = Gartner predicted. Fig. 4b -- Ratio dots: dashed line = perfect prediction. Boundary case: Rank ordering correct (p = 0.037). Over-prediction at 24 mm/hr explained by storm input mismatch, not model failure.</a:t>
            </a:r>
            <a:endParaRPr lang="en-US" sz="1100" dirty="0"/>
          </a:p>
        </p:txBody>
      </p:sp>
      <p:sp>
        <p:nvSpPr>
          <p:cNvPr id="57" name="Shape 48"/>
          <p:cNvSpPr/>
          <p:nvPr/>
        </p:nvSpPr>
        <p:spPr>
          <a:xfrm>
            <a:off x="10104120" y="31638240"/>
            <a:ext cx="23682960" cy="868680"/>
          </a:xfrm>
          <a:prstGeom prst="rect">
            <a:avLst/>
          </a:prstGeom>
          <a:solidFill>
            <a:srgbClr val="D6E8DF"/>
          </a:solidFill>
          <a:ln w="15240">
            <a:solidFill>
              <a:srgbClr val="1447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9"/>
          <p:cNvSpPr/>
          <p:nvPr/>
        </p:nvSpPr>
        <p:spPr>
          <a:xfrm>
            <a:off x="10332720" y="31729680"/>
            <a:ext cx="2322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ordering is preserved across all three fires (rho &gt; 0.89). The model correctly identifies highest-risk basins for evacuation triage even when absolute volume predictions are imperfect.</a:t>
            </a:r>
            <a:endParaRPr lang="en-US" sz="1400" dirty="0"/>
          </a:p>
        </p:txBody>
      </p:sp>
      <p:sp>
        <p:nvSpPr>
          <p:cNvPr id="59" name="Shape 50"/>
          <p:cNvSpPr/>
          <p:nvPr/>
        </p:nvSpPr>
        <p:spPr>
          <a:xfrm>
            <a:off x="34061400" y="5166360"/>
            <a:ext cx="9326880" cy="8412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1"/>
          <p:cNvSpPr/>
          <p:nvPr/>
        </p:nvSpPr>
        <p:spPr>
          <a:xfrm>
            <a:off x="34061400" y="5166360"/>
            <a:ext cx="9326880" cy="502920"/>
          </a:xfrm>
          <a:prstGeom prst="rect">
            <a:avLst/>
          </a:prstGeom>
          <a:solidFill>
            <a:srgbClr val="D6E8DF"/>
          </a:solidFill>
          <a:ln w="12700">
            <a:solidFill>
              <a:srgbClr val="D6E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2"/>
          <p:cNvSpPr/>
          <p:nvPr/>
        </p:nvSpPr>
        <p:spPr>
          <a:xfrm>
            <a:off x="34225992" y="5230368"/>
            <a:ext cx="8997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Interpolation Penalty</a:t>
            </a:r>
            <a:endParaRPr lang="en-US" sz="2000" dirty="0"/>
          </a:p>
        </p:txBody>
      </p:sp>
      <p:sp>
        <p:nvSpPr>
          <p:cNvPr id="62" name="Text 53"/>
          <p:cNvSpPr/>
          <p:nvPr/>
        </p:nvSpPr>
        <p:spPr>
          <a:xfrm>
            <a:off x="34244280" y="576072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Thomas over-predict at 24 mm/hr?</a:t>
            </a:r>
            <a:endParaRPr lang="en-US" sz="1400" dirty="0"/>
          </a:p>
        </p:txBody>
      </p:sp>
      <p:sp>
        <p:nvSpPr>
          <p:cNvPr id="63" name="Shape 54"/>
          <p:cNvSpPr/>
          <p:nvPr/>
        </p:nvSpPr>
        <p:spPr>
          <a:xfrm>
            <a:off x="34244280" y="6336792"/>
            <a:ext cx="8961120" cy="5760720"/>
          </a:xfrm>
          <a:prstGeom prst="rect">
            <a:avLst/>
          </a:prstGeom>
          <a:solidFill>
            <a:srgbClr val="EEF4F0"/>
          </a:solidFill>
          <a:ln w="15240">
            <a:solidFill>
              <a:srgbClr val="1A634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5"/>
          <p:cNvSpPr/>
          <p:nvPr/>
        </p:nvSpPr>
        <p:spPr>
          <a:xfrm>
            <a:off x="34335720" y="8869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REPLACE: Thomas gauge map</a:t>
            </a:r>
            <a:endParaRPr lang="en-US" sz="1200" dirty="0"/>
          </a:p>
        </p:txBody>
      </p:sp>
      <p:sp>
        <p:nvSpPr>
          <p:cNvPr id="65" name="Text 56"/>
          <p:cNvSpPr/>
          <p:nvPr/>
        </p:nvSpPr>
        <p:spPr>
          <a:xfrm>
            <a:off x="34335720" y="935431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gauges. Orange = basins.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opacity = interpolation distance.</a:t>
            </a:r>
            <a:endParaRPr lang="en-US" sz="1000" dirty="0"/>
          </a:p>
        </p:txBody>
      </p:sp>
      <p:sp>
        <p:nvSpPr>
          <p:cNvPr id="66" name="Text 57"/>
          <p:cNvSpPr/>
          <p:nvPr/>
        </p:nvSpPr>
        <p:spPr>
          <a:xfrm>
            <a:off x="34244280" y="12170664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5 -- Single ALERT gauge serving five Thomas Fire basins. Faded lines = high spatial interpolation of i15.</a:t>
            </a:r>
            <a:endParaRPr lang="en-US" sz="1100" dirty="0"/>
          </a:p>
        </p:txBody>
      </p:sp>
      <p:sp>
        <p:nvSpPr>
          <p:cNvPr id="67" name="Shape 58"/>
          <p:cNvSpPr/>
          <p:nvPr/>
        </p:nvSpPr>
        <p:spPr>
          <a:xfrm>
            <a:off x="34061400" y="13761720"/>
            <a:ext cx="93268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Shape 59"/>
          <p:cNvSpPr/>
          <p:nvPr/>
        </p:nvSpPr>
        <p:spPr>
          <a:xfrm>
            <a:off x="34061400" y="13761720"/>
            <a:ext cx="9326880" cy="502920"/>
          </a:xfrm>
          <a:prstGeom prst="rect">
            <a:avLst/>
          </a:prstGeom>
          <a:solidFill>
            <a:srgbClr val="D6E8DF"/>
          </a:solidFill>
          <a:ln w="12700">
            <a:solidFill>
              <a:srgbClr val="D6E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0"/>
          <p:cNvSpPr/>
          <p:nvPr/>
        </p:nvSpPr>
        <p:spPr>
          <a:xfrm>
            <a:off x="34225992" y="13825728"/>
            <a:ext cx="8997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Input Comparison</a:t>
            </a:r>
            <a:endParaRPr lang="en-US" sz="2000" dirty="0"/>
          </a:p>
        </p:txBody>
      </p:sp>
      <p:graphicFrame>
        <p:nvGraphicFramePr>
          <p:cNvPr id="7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44280" y="14356080"/>
          <a:ext cx="8869680" cy="210312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Storm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7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ratio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storm (24 mm/hr)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1.71x  over-predicted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storm (91 mm/hr)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47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~1.05x  near-accurate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1" name="Text 61"/>
          <p:cNvSpPr/>
          <p:nvPr/>
        </p:nvSpPr>
        <p:spPr>
          <a:xfrm>
            <a:off x="34244280" y="1659636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structure is correct. It needs accurate storm input.</a:t>
            </a:r>
            <a:endParaRPr lang="en-US" sz="1300" dirty="0"/>
          </a:p>
        </p:txBody>
      </p:sp>
      <p:sp>
        <p:nvSpPr>
          <p:cNvPr id="72" name="Shape 62"/>
          <p:cNvSpPr/>
          <p:nvPr/>
        </p:nvSpPr>
        <p:spPr>
          <a:xfrm>
            <a:off x="34061400" y="18150840"/>
            <a:ext cx="9326880" cy="1444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3" name="Shape 63"/>
          <p:cNvSpPr/>
          <p:nvPr/>
        </p:nvSpPr>
        <p:spPr>
          <a:xfrm>
            <a:off x="34061400" y="18150840"/>
            <a:ext cx="9326880" cy="502920"/>
          </a:xfrm>
          <a:prstGeom prst="rect">
            <a:avLst/>
          </a:prstGeom>
          <a:solidFill>
            <a:srgbClr val="144734"/>
          </a:solidFill>
          <a:ln w="12700">
            <a:solidFill>
              <a:srgbClr val="1447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64"/>
          <p:cNvSpPr/>
          <p:nvPr/>
        </p:nvSpPr>
        <p:spPr>
          <a:xfrm>
            <a:off x="34244280" y="1823313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75" name="Shape 65"/>
          <p:cNvSpPr/>
          <p:nvPr/>
        </p:nvSpPr>
        <p:spPr>
          <a:xfrm>
            <a:off x="34244280" y="18836640"/>
            <a:ext cx="64008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66"/>
          <p:cNvSpPr/>
          <p:nvPr/>
        </p:nvSpPr>
        <p:spPr>
          <a:xfrm>
            <a:off x="34381440" y="18790920"/>
            <a:ext cx="8823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accuracy holds.  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rho &gt; 0.89 across three independent fires. The model correctly rank-orders basin vulnerability for evacuation prioritization even with imperfect rainfall data.</a:t>
            </a:r>
            <a:endParaRPr lang="en-US" sz="2000" dirty="0"/>
          </a:p>
        </p:txBody>
      </p:sp>
      <p:sp>
        <p:nvSpPr>
          <p:cNvPr id="77" name="Shape 67"/>
          <p:cNvSpPr/>
          <p:nvPr/>
        </p:nvSpPr>
        <p:spPr>
          <a:xfrm>
            <a:off x="34244280" y="20985480"/>
            <a:ext cx="64008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68"/>
          <p:cNvSpPr/>
          <p:nvPr/>
        </p:nvSpPr>
        <p:spPr>
          <a:xfrm>
            <a:off x="34381440" y="20939760"/>
            <a:ext cx="8823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interpolation penalty is real.  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volume error scales with gauge-to-basin distance. Rank ordering is robust. Volume magnitude accuracy requires co-located rain gauges.</a:t>
            </a:r>
            <a:endParaRPr lang="en-US" sz="2000" dirty="0"/>
          </a:p>
        </p:txBody>
      </p:sp>
      <p:sp>
        <p:nvSpPr>
          <p:cNvPr id="79" name="Shape 69"/>
          <p:cNvSpPr/>
          <p:nvPr/>
        </p:nvSpPr>
        <p:spPr>
          <a:xfrm>
            <a:off x="34244280" y="23134320"/>
            <a:ext cx="64008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0"/>
          <p:cNvSpPr/>
          <p:nvPr/>
        </p:nvSpPr>
        <p:spPr>
          <a:xfrm>
            <a:off x="34381440" y="23088600"/>
            <a:ext cx="8823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speed.  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basin-level risk assessment in under one hour of fire perimeter availability -- versus days for traditional BAER field assessment.</a:t>
            </a:r>
            <a:endParaRPr lang="en-US" sz="2000" dirty="0"/>
          </a:p>
        </p:txBody>
      </p:sp>
      <p:sp>
        <p:nvSpPr>
          <p:cNvPr id="81" name="Shape 71"/>
          <p:cNvSpPr/>
          <p:nvPr/>
        </p:nvSpPr>
        <p:spPr>
          <a:xfrm>
            <a:off x="34244280" y="25283160"/>
            <a:ext cx="64008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2"/>
          <p:cNvSpPr/>
          <p:nvPr/>
        </p:nvSpPr>
        <p:spPr>
          <a:xfrm>
            <a:off x="34381440" y="25237440"/>
            <a:ext cx="8823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work.  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ALERT gauge coordinates for Grand Prix (2003) and Station (2009) from San Bernardino Co. and LA County DPW will quantify the interpolation penalty empirically across all fires.</a:t>
            </a:r>
            <a:endParaRPr lang="en-US" sz="2000" dirty="0"/>
          </a:p>
        </p:txBody>
      </p:sp>
      <p:sp>
        <p:nvSpPr>
          <p:cNvPr id="83" name="Shape 73"/>
          <p:cNvSpPr/>
          <p:nvPr/>
        </p:nvSpPr>
        <p:spPr>
          <a:xfrm>
            <a:off x="0" y="32598360"/>
            <a:ext cx="43891200" cy="320040"/>
          </a:xfrm>
          <a:prstGeom prst="rect">
            <a:avLst/>
          </a:prstGeom>
          <a:solidFill>
            <a:srgbClr val="144734"/>
          </a:solidFill>
          <a:ln w="12700">
            <a:solidFill>
              <a:srgbClr val="1447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74"/>
          <p:cNvSpPr/>
          <p:nvPr/>
        </p:nvSpPr>
        <p:spPr>
          <a:xfrm>
            <a:off x="365760" y="32607504"/>
            <a:ext cx="4297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Crowder et al. (2025) USGS doi:10.5066/P13EZSWW  |  Model: Gartner et al. (2014) Engineering Geology 176:45-56  |  Satellite: ESA Sentinel-2 SR + USGS SRTM via Google Earth Engine</a:t>
            </a:r>
            <a:endParaRPr lang="en-US" sz="900" dirty="0"/>
          </a:p>
        </p:txBody>
      </p:sp>
      <p:sp>
        <p:nvSpPr>
          <p:cNvPr id="85" name="Shape 75"/>
          <p:cNvSpPr/>
          <p:nvPr/>
        </p:nvSpPr>
        <p:spPr>
          <a:xfrm>
            <a:off x="9966960" y="5166360"/>
            <a:ext cx="0" cy="2743200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76"/>
          <p:cNvSpPr/>
          <p:nvPr/>
        </p:nvSpPr>
        <p:spPr>
          <a:xfrm>
            <a:off x="33924240" y="5166360"/>
            <a:ext cx="0" cy="2743200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844</Words>
  <Application>Microsoft Macintosh PowerPoint</Application>
  <PresentationFormat>Custom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Anthony Gregory Brandi</cp:lastModifiedBy>
  <cp:revision>2</cp:revision>
  <dcterms:created xsi:type="dcterms:W3CDTF">2026-04-27T06:55:57Z</dcterms:created>
  <dcterms:modified xsi:type="dcterms:W3CDTF">2026-04-28T02:09:18Z</dcterms:modified>
</cp:coreProperties>
</file>